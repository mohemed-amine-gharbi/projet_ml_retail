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71" r:id="rId3"/>
    <p:sldId id="256" r:id="rId4"/>
    <p:sldId id="257" r:id="rId5"/>
    <p:sldId id="269" r:id="rId6"/>
    <p:sldId id="270" r:id="rId7"/>
    <p:sldId id="258" r:id="rId8"/>
    <p:sldId id="26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32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61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24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713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30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088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Analyse Comportementale Clientèle Retail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Machine Learning · GI2-S1 · 2025-2026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645920"/>
            <a:ext cx="9144000" cy="34975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19"/>
          <p:cNvSpPr/>
          <p:nvPr/>
        </p:nvSpPr>
        <p:spPr>
          <a:xfrm>
            <a:off x="365624" y="3065718"/>
            <a:ext cx="56387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par  Mohamed Amine Gharbi</a:t>
            </a:r>
            <a:endParaRPr lang="en-US" sz="2000" b="1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086DB9F-0066-44E5-B592-9A21BEE18E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878"/>
          <a:stretch/>
        </p:blipFill>
        <p:spPr>
          <a:xfrm>
            <a:off x="5575922" y="1645920"/>
            <a:ext cx="3568078" cy="349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7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Analyse Comportementale Clientèle Retail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624" y="10744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800" b="1" dirty="0"/>
          </a:p>
        </p:txBody>
      </p:sp>
      <p:sp>
        <p:nvSpPr>
          <p:cNvPr id="5" name="Shape 3"/>
          <p:cNvSpPr/>
          <p:nvPr/>
        </p:nvSpPr>
        <p:spPr>
          <a:xfrm>
            <a:off x="0" y="1645920"/>
            <a:ext cx="9144000" cy="34975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19"/>
          <p:cNvSpPr/>
          <p:nvPr/>
        </p:nvSpPr>
        <p:spPr>
          <a:xfrm>
            <a:off x="365624" y="3065718"/>
            <a:ext cx="56387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086DB9F-0066-44E5-B592-9A21BEE18E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878"/>
          <a:stretch/>
        </p:blipFill>
        <p:spPr>
          <a:xfrm>
            <a:off x="5575922" y="1645920"/>
            <a:ext cx="3568078" cy="349758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01D7B4C-62F7-4963-8287-EDE38C855260}"/>
              </a:ext>
            </a:extLst>
          </p:cNvPr>
          <p:cNvSpPr txBox="1"/>
          <p:nvPr/>
        </p:nvSpPr>
        <p:spPr>
          <a:xfrm>
            <a:off x="228600" y="2172466"/>
            <a:ext cx="470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2-Présentation du Jeu de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4B9ABE0-98F0-4F87-8AE3-7044BCE0ED7C}"/>
              </a:ext>
            </a:extLst>
          </p:cNvPr>
          <p:cNvSpPr txBox="1"/>
          <p:nvPr/>
        </p:nvSpPr>
        <p:spPr>
          <a:xfrm>
            <a:off x="228600" y="2502467"/>
            <a:ext cx="470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</a:t>
            </a:r>
            <a:r>
              <a:rPr lang="fr-FR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raitements</a:t>
            </a:r>
            <a:r>
              <a:rPr lang="fr-FR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effectués sur les données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08A0817-4536-469E-8292-13CFC97A4D10}"/>
              </a:ext>
            </a:extLst>
          </p:cNvPr>
          <p:cNvSpPr txBox="1"/>
          <p:nvPr/>
        </p:nvSpPr>
        <p:spPr>
          <a:xfrm>
            <a:off x="232274" y="3437023"/>
            <a:ext cx="470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18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-Segmentation K-Means</a:t>
            </a:r>
            <a:endParaRPr lang="fr-FR" dirty="0">
              <a:effectLst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DB51507-1197-42D0-BFFB-8232B15A2264}"/>
              </a:ext>
            </a:extLst>
          </p:cNvPr>
          <p:cNvSpPr txBox="1"/>
          <p:nvPr/>
        </p:nvSpPr>
        <p:spPr>
          <a:xfrm>
            <a:off x="228600" y="2846555"/>
            <a:ext cx="645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4-Réduction de Dimension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ACP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EA880CC-C9EC-403C-9E7D-BA10ACCBAB28}"/>
              </a:ext>
            </a:extLst>
          </p:cNvPr>
          <p:cNvSpPr txBox="1"/>
          <p:nvPr/>
        </p:nvSpPr>
        <p:spPr>
          <a:xfrm>
            <a:off x="240030" y="3150706"/>
            <a:ext cx="470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1800" b="1" i="0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-Date </a:t>
            </a:r>
            <a:r>
              <a:rPr lang="en-US" sz="1800" b="1" i="0" kern="1200" spc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d'enterrement</a:t>
            </a:r>
            <a:endParaRPr lang="fr-FR" dirty="0">
              <a:effectLst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ADD6A04-191E-45F9-9CF3-2B80F592A769}"/>
              </a:ext>
            </a:extLst>
          </p:cNvPr>
          <p:cNvSpPr txBox="1"/>
          <p:nvPr/>
        </p:nvSpPr>
        <p:spPr>
          <a:xfrm>
            <a:off x="224518" y="3769222"/>
            <a:ext cx="4690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7-Classification :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Churn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D01A30C-2CD1-4280-8A60-A97B4FDC2877}"/>
              </a:ext>
            </a:extLst>
          </p:cNvPr>
          <p:cNvSpPr txBox="1"/>
          <p:nvPr/>
        </p:nvSpPr>
        <p:spPr>
          <a:xfrm>
            <a:off x="203835" y="4111418"/>
            <a:ext cx="470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9-Déploiement : Application Flask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DDD8ACB-6378-4DA8-BA84-38832D7E5965}"/>
              </a:ext>
            </a:extLst>
          </p:cNvPr>
          <p:cNvSpPr txBox="1"/>
          <p:nvPr/>
        </p:nvSpPr>
        <p:spPr>
          <a:xfrm>
            <a:off x="203835" y="4415569"/>
            <a:ext cx="6442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10-Synthèse des Performances &amp;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E05A4B3-069B-4725-BF84-0DDD669F09A9}"/>
              </a:ext>
            </a:extLst>
          </p:cNvPr>
          <p:cNvSpPr txBox="1"/>
          <p:nvPr/>
        </p:nvSpPr>
        <p:spPr>
          <a:xfrm>
            <a:off x="203835" y="1820123"/>
            <a:ext cx="4682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1-Analyse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Comportementale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Clientèle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Retail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8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Analyse Comportementale Clientèle Retail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Machine Learning · GI2-S1 · 2025-2026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9077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4 372 clients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Préparation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68880" y="29077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· Encoding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29077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· GBoosting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92024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29077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Flask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temps réel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Présentation du Jeu de Données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8288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4 372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8288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389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8288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389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1005840"/>
            <a:ext cx="182880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389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430780"/>
            <a:ext cx="411480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487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features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2938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11680" y="2938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commandes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267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MonetaryTotal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11680" y="3267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 totale (£)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596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CustomerTenure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11680" y="3596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(jours)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9258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FavoriteSeason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11680" y="3925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préférée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255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0" y="4255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départ client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423160"/>
            <a:ext cx="411480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2487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qualité détectés &amp; traitements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54880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Age (30% manquants)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Imputation médiane/KNN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182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SupportTickets (999)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Remplacement → NaN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511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RegistrationDate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66560" y="3511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Parsing dayfirst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NewsletterSubscribed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Suppression (variance=0)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1696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Catégorielles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One-Hot / Ordinal / Target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fr-FR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raitements</a:t>
            </a:r>
            <a:r>
              <a:rPr lang="fr-F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effectués sur les données</a:t>
            </a:r>
            <a:endParaRPr lang="en-US" sz="2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graphicFrame>
        <p:nvGraphicFramePr>
          <p:cNvPr id="46" name="Tableau 45">
            <a:extLst>
              <a:ext uri="{FF2B5EF4-FFF2-40B4-BE49-F238E27FC236}">
                <a16:creationId xmlns:a16="http://schemas.microsoft.com/office/drawing/2014/main" id="{8EAEE8AA-7786-4BE0-8B4C-40960E4BB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670102"/>
              </p:ext>
            </p:extLst>
          </p:nvPr>
        </p:nvGraphicFramePr>
        <p:xfrm>
          <a:off x="457200" y="1135381"/>
          <a:ext cx="8229600" cy="37520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1290711454"/>
                    </a:ext>
                  </a:extLst>
                </a:gridCol>
                <a:gridCol w="1527224">
                  <a:extLst>
                    <a:ext uri="{9D8B030D-6E8A-4147-A177-3AD203B41FA5}">
                      <a16:colId xmlns:a16="http://schemas.microsoft.com/office/drawing/2014/main" val="3704409025"/>
                    </a:ext>
                  </a:extLst>
                </a:gridCol>
                <a:gridCol w="1788355">
                  <a:extLst>
                    <a:ext uri="{9D8B030D-6E8A-4147-A177-3AD203B41FA5}">
                      <a16:colId xmlns:a16="http://schemas.microsoft.com/office/drawing/2014/main" val="4209647269"/>
                    </a:ext>
                  </a:extLst>
                </a:gridCol>
                <a:gridCol w="2334358">
                  <a:extLst>
                    <a:ext uri="{9D8B030D-6E8A-4147-A177-3AD203B41FA5}">
                      <a16:colId xmlns:a16="http://schemas.microsoft.com/office/drawing/2014/main" val="5933454"/>
                    </a:ext>
                  </a:extLst>
                </a:gridCol>
                <a:gridCol w="2065313">
                  <a:extLst>
                    <a:ext uri="{9D8B030D-6E8A-4147-A177-3AD203B41FA5}">
                      <a16:colId xmlns:a16="http://schemas.microsoft.com/office/drawing/2014/main" val="2574436851"/>
                    </a:ext>
                  </a:extLst>
                </a:gridCol>
              </a:tblGrid>
              <a:tr h="3898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Étape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Type de traitement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Colonnes / données concernées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Description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Objectif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1427078283"/>
                  </a:ext>
                </a:extLst>
              </a:tr>
              <a:tr h="3898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1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Chargement des données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dataset brut (</a:t>
                      </a:r>
                      <a:r>
                        <a:rPr lang="fr-FR" sz="1100">
                          <a:effectLst/>
                        </a:rPr>
                        <a:t>retail.csv</a:t>
                      </a:r>
                      <a:r>
                        <a:rPr lang="fr-FR" sz="1200">
                          <a:effectLst/>
                        </a:rPr>
                        <a:t>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Lecture + inspection initiale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Comprendre la structure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2339842000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2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Suppression de variables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CustomerID</a:t>
                      </a:r>
                      <a:r>
                        <a:rPr lang="fr-FR" sz="1200">
                          <a:effectLst/>
                        </a:rPr>
                        <a:t>, variables constantes, colonnes leakage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Suppression des IDs + features prédictives indirectes du target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Éviter fuite d'information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9582619"/>
                  </a:ext>
                </a:extLst>
              </a:tr>
              <a:tr h="4155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3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Suppression des données manquantes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Colonnes avec &gt;50% NaN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Drop des colonnes trop incomplètes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Réduire bruit / instabilité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3547132894"/>
                  </a:ext>
                </a:extLst>
              </a:tr>
              <a:tr h="4155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4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Feature engineering temporel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RegistrationDate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Extraction : année, mois, jour, weekday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Transformer date en variables exploitables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3350791562"/>
                  </a:ext>
                </a:extLst>
              </a:tr>
              <a:tr h="3898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5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Feature engineering IP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LastLoginIP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Création </a:t>
                      </a:r>
                      <a:r>
                        <a:rPr lang="fr-FR" sz="1100">
                          <a:effectLst/>
                        </a:rPr>
                        <a:t>IP_IsPrivate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Transformer IP en </a:t>
                      </a:r>
                      <a:r>
                        <a:rPr lang="fr-FR" sz="1200" dirty="0" err="1">
                          <a:effectLst/>
                        </a:rPr>
                        <a:t>feature</a:t>
                      </a:r>
                      <a:r>
                        <a:rPr lang="fr-FR" sz="1200" dirty="0">
                          <a:effectLst/>
                        </a:rPr>
                        <a:t> binaire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352205585"/>
                  </a:ext>
                </a:extLst>
              </a:tr>
              <a:tr h="573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6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Traitement des outliers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SupportTickets</a:t>
                      </a:r>
                      <a:r>
                        <a:rPr lang="fr-FR" sz="1200">
                          <a:effectLst/>
                        </a:rPr>
                        <a:t>, </a:t>
                      </a:r>
                      <a:r>
                        <a:rPr lang="fr-FR" sz="1100">
                          <a:effectLst/>
                        </a:rPr>
                        <a:t>SatisfactionScore</a:t>
                      </a:r>
                      <a:r>
                        <a:rPr lang="fr-FR" sz="1200">
                          <a:effectLst/>
                        </a:rPr>
                        <a:t>, </a:t>
                      </a:r>
                      <a:r>
                        <a:rPr lang="fr-FR" sz="1100">
                          <a:effectLst/>
                        </a:rPr>
                        <a:t>MonetaryTotal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Remplacement valeurs aberrantes par NaN ou clipping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Stabiliser distribution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569413302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7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Feature engineering avancé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MonetaryTotal</a:t>
                      </a:r>
                      <a:r>
                        <a:rPr lang="fr-FR" sz="1200">
                          <a:effectLst/>
                        </a:rPr>
                        <a:t>, </a:t>
                      </a:r>
                      <a:r>
                        <a:rPr lang="fr-FR" sz="1100">
                          <a:effectLst/>
                        </a:rPr>
                        <a:t>Frequency</a:t>
                      </a:r>
                      <a:r>
                        <a:rPr lang="fr-FR" sz="1200">
                          <a:effectLst/>
                        </a:rPr>
                        <a:t>, etc.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Création : AvgBasket, DiversityRatio, CancelRate, ValuePerProduct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Améliorer pouvoir prédictif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276402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48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fr-FR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raitements</a:t>
            </a:r>
            <a:r>
              <a:rPr lang="fr-F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effectués sur les données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graphicFrame>
        <p:nvGraphicFramePr>
          <p:cNvPr id="46" name="Tableau 45">
            <a:extLst>
              <a:ext uri="{FF2B5EF4-FFF2-40B4-BE49-F238E27FC236}">
                <a16:creationId xmlns:a16="http://schemas.microsoft.com/office/drawing/2014/main" id="{8EAEE8AA-7786-4BE0-8B4C-40960E4BB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18631"/>
              </p:ext>
            </p:extLst>
          </p:nvPr>
        </p:nvGraphicFramePr>
        <p:xfrm>
          <a:off x="457200" y="1156716"/>
          <a:ext cx="8229600" cy="3316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1290711454"/>
                    </a:ext>
                  </a:extLst>
                </a:gridCol>
                <a:gridCol w="1527223">
                  <a:extLst>
                    <a:ext uri="{9D8B030D-6E8A-4147-A177-3AD203B41FA5}">
                      <a16:colId xmlns:a16="http://schemas.microsoft.com/office/drawing/2014/main" val="3704409025"/>
                    </a:ext>
                  </a:extLst>
                </a:gridCol>
                <a:gridCol w="1788355">
                  <a:extLst>
                    <a:ext uri="{9D8B030D-6E8A-4147-A177-3AD203B41FA5}">
                      <a16:colId xmlns:a16="http://schemas.microsoft.com/office/drawing/2014/main" val="4209647269"/>
                    </a:ext>
                  </a:extLst>
                </a:gridCol>
                <a:gridCol w="2334358">
                  <a:extLst>
                    <a:ext uri="{9D8B030D-6E8A-4147-A177-3AD203B41FA5}">
                      <a16:colId xmlns:a16="http://schemas.microsoft.com/office/drawing/2014/main" val="5933454"/>
                    </a:ext>
                  </a:extLst>
                </a:gridCol>
                <a:gridCol w="2065314">
                  <a:extLst>
                    <a:ext uri="{9D8B030D-6E8A-4147-A177-3AD203B41FA5}">
                      <a16:colId xmlns:a16="http://schemas.microsoft.com/office/drawing/2014/main" val="2574436851"/>
                    </a:ext>
                  </a:extLst>
                </a:gridCol>
              </a:tblGrid>
              <a:tr h="401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Étape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Type de traitement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Colonnes / données concernées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Description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Objectif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07" marR="31607" marT="0" marB="0"/>
                </a:tc>
                <a:extLst>
                  <a:ext uri="{0D108BD9-81ED-4DB2-BD59-A6C34878D82A}">
                    <a16:rowId xmlns:a16="http://schemas.microsoft.com/office/drawing/2014/main" val="1427078283"/>
                  </a:ext>
                </a:extLst>
              </a:tr>
              <a:tr h="277078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Encodage catégoriel</a:t>
                      </a:r>
                      <a:endParaRPr lang="fr-FR" sz="4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colonnes </a:t>
                      </a:r>
                      <a:r>
                        <a:rPr lang="fr-FR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  <a:endParaRPr lang="fr-FR" sz="4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LabelEncoding</a:t>
                      </a:r>
                      <a:r>
                        <a:rPr lang="fr-F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des catégories</a:t>
                      </a:r>
                      <a:endParaRPr lang="fr-FR" sz="4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Conversion en numérique</a:t>
                      </a:r>
                      <a:endParaRPr lang="fr-FR" sz="4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extLst>
                  <a:ext uri="{0D108BD9-81ED-4DB2-BD59-A6C34878D82A}">
                    <a16:rowId xmlns:a16="http://schemas.microsoft.com/office/drawing/2014/main" val="2339842000"/>
                  </a:ext>
                </a:extLst>
              </a:tr>
              <a:tr h="560406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Séparation train/test</a:t>
                      </a:r>
                      <a:endParaRPr lang="fr-F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complet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Split stratifié 80/20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Évaluation correcte</a:t>
                      </a:r>
                      <a:endParaRPr lang="fr-F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extLst>
                  <a:ext uri="{0D108BD9-81ED-4DB2-BD59-A6C34878D82A}">
                    <a16:rowId xmlns:a16="http://schemas.microsoft.com/office/drawing/2014/main" val="9582619"/>
                  </a:ext>
                </a:extLst>
              </a:tr>
              <a:tr h="420361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Suppression leakage (post-split)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ChurnRisk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fr-F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RFMSegment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etc.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Drop après split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Éviter fuite cible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extLst>
                  <a:ext uri="{0D108BD9-81ED-4DB2-BD59-A6C34878D82A}">
                    <a16:rowId xmlns:a16="http://schemas.microsoft.com/office/drawing/2014/main" val="3547132894"/>
                  </a:ext>
                </a:extLst>
              </a:tr>
              <a:tr h="420361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Imputation (CORRIGÉE)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colonnes numériques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Médiane calculée sur X_train uniquement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Éviter data leakage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extLst>
                  <a:ext uri="{0D108BD9-81ED-4DB2-BD59-A6C34878D82A}">
                    <a16:rowId xmlns:a16="http://schemas.microsoft.com/office/drawing/2014/main" val="3350791562"/>
                  </a:ext>
                </a:extLst>
              </a:tr>
              <a:tr h="420361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Suppression corrélation forte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features corrélées (&gt;0.85)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Suppression variables redondantes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Réduire multicolinéarité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extLst>
                  <a:ext uri="{0D108BD9-81ED-4DB2-BD59-A6C34878D82A}">
                    <a16:rowId xmlns:a16="http://schemas.microsoft.com/office/drawing/2014/main" val="352205585"/>
                  </a:ext>
                </a:extLst>
              </a:tr>
              <a:tr h="418743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  <a:r>
                        <a:rPr lang="fr-F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selection</a:t>
                      </a:r>
                      <a:endParaRPr lang="fr-F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X_train + y_train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RandomForest importance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Garder variables utiles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extLst>
                  <a:ext uri="{0D108BD9-81ED-4DB2-BD59-A6C34878D82A}">
                    <a16:rowId xmlns:a16="http://schemas.microsoft.com/office/drawing/2014/main" val="569413302"/>
                  </a:ext>
                </a:extLst>
              </a:tr>
              <a:tr h="397593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Rééquilibrage classes</a:t>
                      </a:r>
                      <a:endParaRPr lang="fr-F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train</a:t>
                      </a:r>
                      <a:endParaRPr lang="fr-F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SMOTE </a:t>
                      </a:r>
                      <a:r>
                        <a:rPr lang="fr-FR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oversampling</a:t>
                      </a:r>
                      <a:endParaRPr lang="fr-F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r-F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Corriger </a:t>
                      </a:r>
                      <a:r>
                        <a:rPr lang="fr-FR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imbalance</a:t>
                      </a:r>
                      <a:r>
                        <a:rPr lang="fr-F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churn</a:t>
                      </a:r>
                      <a:endParaRPr lang="fr-F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623" marR="31623" marT="9525" marB="0"/>
                </a:tc>
                <a:extLst>
                  <a:ext uri="{0D108BD9-81ED-4DB2-BD59-A6C34878D82A}">
                    <a16:rowId xmlns:a16="http://schemas.microsoft.com/office/drawing/2014/main" val="276402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78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Réduction de Dimension — Analyse en Composantes Principales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60120"/>
            <a:ext cx="84124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20,8 % variance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65176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65176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12,3 % variance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5488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seuil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5488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composantes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0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VIP identifiables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📊 Date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d'enterrement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78308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TotalQuantity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68880" y="178308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68879" y="1783080"/>
            <a:ext cx="19304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AvgQuantityPerTransaction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CustomerTenureDays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675120" y="178308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FirstPurchaseDaysAgo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6601BCC5-257F-44CA-8013-101DD50D415F}"/>
              </a:ext>
            </a:extLst>
          </p:cNvPr>
          <p:cNvSpPr/>
          <p:nvPr/>
        </p:nvSpPr>
        <p:spPr>
          <a:xfrm>
            <a:off x="365760" y="1179576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A7440B69-7FE0-4287-B8ED-43E066DE0B93}"/>
              </a:ext>
            </a:extLst>
          </p:cNvPr>
          <p:cNvSpPr/>
          <p:nvPr/>
        </p:nvSpPr>
        <p:spPr>
          <a:xfrm>
            <a:off x="365760" y="1179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Frequency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84114EAF-265B-45E6-A699-921B3186EE2A}"/>
              </a:ext>
            </a:extLst>
          </p:cNvPr>
          <p:cNvSpPr/>
          <p:nvPr/>
        </p:nvSpPr>
        <p:spPr>
          <a:xfrm>
            <a:off x="2468880" y="1179576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4492E732-2382-44FB-90A0-89AE638365AE}"/>
              </a:ext>
            </a:extLst>
          </p:cNvPr>
          <p:cNvSpPr/>
          <p:nvPr/>
        </p:nvSpPr>
        <p:spPr>
          <a:xfrm>
            <a:off x="2468880" y="1179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MonetaryTotal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362896E2-37E0-4A1D-9FE1-B337DEFEF717}"/>
              </a:ext>
            </a:extLst>
          </p:cNvPr>
          <p:cNvSpPr/>
          <p:nvPr/>
        </p:nvSpPr>
        <p:spPr>
          <a:xfrm>
            <a:off x="4572000" y="1179576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320546D7-1D66-4B09-B014-D6BC296795B2}"/>
              </a:ext>
            </a:extLst>
          </p:cNvPr>
          <p:cNvSpPr/>
          <p:nvPr/>
        </p:nvSpPr>
        <p:spPr>
          <a:xfrm>
            <a:off x="4572000" y="1179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MonetaryAvg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5E4B3061-C6B6-42B8-ADCA-137B2322689D}"/>
              </a:ext>
            </a:extLst>
          </p:cNvPr>
          <p:cNvSpPr/>
          <p:nvPr/>
        </p:nvSpPr>
        <p:spPr>
          <a:xfrm>
            <a:off x="6675120" y="1179576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84794911-4E3A-456A-805E-A6EE1C670E16}"/>
              </a:ext>
            </a:extLst>
          </p:cNvPr>
          <p:cNvSpPr/>
          <p:nvPr/>
        </p:nvSpPr>
        <p:spPr>
          <a:xfrm>
            <a:off x="6675120" y="1179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MonetaryStd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65F70BD5-85E7-4EDE-BFA3-4AF6BC0498AB}"/>
              </a:ext>
            </a:extLst>
          </p:cNvPr>
          <p:cNvSpPr/>
          <p:nvPr/>
        </p:nvSpPr>
        <p:spPr>
          <a:xfrm>
            <a:off x="365760" y="239074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A6D95EE6-65F4-427E-B99D-9C8543582E0F}"/>
              </a:ext>
            </a:extLst>
          </p:cNvPr>
          <p:cNvSpPr/>
          <p:nvPr/>
        </p:nvSpPr>
        <p:spPr>
          <a:xfrm>
            <a:off x="365760" y="23907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PreferredMonth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2E7DEA28-7155-4E2C-B681-5B17C086EF4F}"/>
              </a:ext>
            </a:extLst>
          </p:cNvPr>
          <p:cNvSpPr/>
          <p:nvPr/>
        </p:nvSpPr>
        <p:spPr>
          <a:xfrm>
            <a:off x="2468880" y="239074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0B48D0EC-8027-418C-8764-3AFEEF7E9664}"/>
              </a:ext>
            </a:extLst>
          </p:cNvPr>
          <p:cNvSpPr/>
          <p:nvPr/>
        </p:nvSpPr>
        <p:spPr>
          <a:xfrm>
            <a:off x="2468879" y="2390740"/>
            <a:ext cx="19304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AvgDaysBetweenPurchases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570A9A77-9787-4F76-9836-72E9B7F0F519}"/>
              </a:ext>
            </a:extLst>
          </p:cNvPr>
          <p:cNvSpPr/>
          <p:nvPr/>
        </p:nvSpPr>
        <p:spPr>
          <a:xfrm>
            <a:off x="4572000" y="239074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F24AF3E3-892E-4107-8A55-0F336D9752EF}"/>
              </a:ext>
            </a:extLst>
          </p:cNvPr>
          <p:cNvSpPr/>
          <p:nvPr/>
        </p:nvSpPr>
        <p:spPr>
          <a:xfrm>
            <a:off x="4572000" y="23907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UniqueProducts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DEB223C2-2E79-4C19-A902-54E2AE023CFC}"/>
              </a:ext>
            </a:extLst>
          </p:cNvPr>
          <p:cNvSpPr/>
          <p:nvPr/>
        </p:nvSpPr>
        <p:spPr>
          <a:xfrm>
            <a:off x="6675120" y="2390740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948016D2-E6C7-4957-A483-3DA5475B59C5}"/>
              </a:ext>
            </a:extLst>
          </p:cNvPr>
          <p:cNvSpPr/>
          <p:nvPr/>
        </p:nvSpPr>
        <p:spPr>
          <a:xfrm>
            <a:off x="6675120" y="23907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AvgProductsPerTransaction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2">
            <a:extLst>
              <a:ext uri="{FF2B5EF4-FFF2-40B4-BE49-F238E27FC236}">
                <a16:creationId xmlns:a16="http://schemas.microsoft.com/office/drawing/2014/main" id="{45ADA302-DF25-4D31-AC83-FB5BAF0233EA}"/>
              </a:ext>
            </a:extLst>
          </p:cNvPr>
          <p:cNvSpPr/>
          <p:nvPr/>
        </p:nvSpPr>
        <p:spPr>
          <a:xfrm>
            <a:off x="365759" y="298925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C36F3F90-3195-41F3-A79D-AE11B6EEE1A8}"/>
              </a:ext>
            </a:extLst>
          </p:cNvPr>
          <p:cNvSpPr/>
          <p:nvPr/>
        </p:nvSpPr>
        <p:spPr>
          <a:xfrm>
            <a:off x="365759" y="2989257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ReturnRatio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3CA5937D-771A-442D-BB2B-20C545A381FC}"/>
              </a:ext>
            </a:extLst>
          </p:cNvPr>
          <p:cNvSpPr/>
          <p:nvPr/>
        </p:nvSpPr>
        <p:spPr>
          <a:xfrm>
            <a:off x="2468879" y="298925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B9DB078F-A47A-4D14-9965-AD4A10FFE6FB}"/>
              </a:ext>
            </a:extLst>
          </p:cNvPr>
          <p:cNvSpPr/>
          <p:nvPr/>
        </p:nvSpPr>
        <p:spPr>
          <a:xfrm>
            <a:off x="2468878" y="2989257"/>
            <a:ext cx="19304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SpendingCategory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10">
            <a:extLst>
              <a:ext uri="{FF2B5EF4-FFF2-40B4-BE49-F238E27FC236}">
                <a16:creationId xmlns:a16="http://schemas.microsoft.com/office/drawing/2014/main" id="{7C99FA3F-65E9-4D9E-A3D1-B56EB89747DF}"/>
              </a:ext>
            </a:extLst>
          </p:cNvPr>
          <p:cNvSpPr/>
          <p:nvPr/>
        </p:nvSpPr>
        <p:spPr>
          <a:xfrm>
            <a:off x="4571999" y="298925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4" name="Text 13">
            <a:extLst>
              <a:ext uri="{FF2B5EF4-FFF2-40B4-BE49-F238E27FC236}">
                <a16:creationId xmlns:a16="http://schemas.microsoft.com/office/drawing/2014/main" id="{D6FF5920-B494-4B98-8D68-61B40A11969C}"/>
              </a:ext>
            </a:extLst>
          </p:cNvPr>
          <p:cNvSpPr/>
          <p:nvPr/>
        </p:nvSpPr>
        <p:spPr>
          <a:xfrm>
            <a:off x="4571999" y="2989257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FavoriteSeason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14">
            <a:extLst>
              <a:ext uri="{FF2B5EF4-FFF2-40B4-BE49-F238E27FC236}">
                <a16:creationId xmlns:a16="http://schemas.microsoft.com/office/drawing/2014/main" id="{62D94687-FE28-49BC-B7AF-ED37E6BADE56}"/>
              </a:ext>
            </a:extLst>
          </p:cNvPr>
          <p:cNvSpPr/>
          <p:nvPr/>
        </p:nvSpPr>
        <p:spPr>
          <a:xfrm>
            <a:off x="6675119" y="298925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2FAE1A0B-ECA9-40DD-BA1F-0251DD149B20}"/>
              </a:ext>
            </a:extLst>
          </p:cNvPr>
          <p:cNvSpPr/>
          <p:nvPr/>
        </p:nvSpPr>
        <p:spPr>
          <a:xfrm>
            <a:off x="6675119" y="2989257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ProductDiversity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Shape 2">
            <a:extLst>
              <a:ext uri="{FF2B5EF4-FFF2-40B4-BE49-F238E27FC236}">
                <a16:creationId xmlns:a16="http://schemas.microsoft.com/office/drawing/2014/main" id="{2979E7BE-63DB-4AC4-9E72-F967727CDE0A}"/>
              </a:ext>
            </a:extLst>
          </p:cNvPr>
          <p:cNvSpPr/>
          <p:nvPr/>
        </p:nvSpPr>
        <p:spPr>
          <a:xfrm>
            <a:off x="365759" y="359691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8" name="Text 5">
            <a:extLst>
              <a:ext uri="{FF2B5EF4-FFF2-40B4-BE49-F238E27FC236}">
                <a16:creationId xmlns:a16="http://schemas.microsoft.com/office/drawing/2014/main" id="{2B6198B0-E388-4124-9F7A-DFF66F9B31A8}"/>
              </a:ext>
            </a:extLst>
          </p:cNvPr>
          <p:cNvSpPr/>
          <p:nvPr/>
        </p:nvSpPr>
        <p:spPr>
          <a:xfrm>
            <a:off x="365759" y="3596917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RegYear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6">
            <a:extLst>
              <a:ext uri="{FF2B5EF4-FFF2-40B4-BE49-F238E27FC236}">
                <a16:creationId xmlns:a16="http://schemas.microsoft.com/office/drawing/2014/main" id="{589B91CE-A438-4E4B-BB4C-226CCA2AAD21}"/>
              </a:ext>
            </a:extLst>
          </p:cNvPr>
          <p:cNvSpPr/>
          <p:nvPr/>
        </p:nvSpPr>
        <p:spPr>
          <a:xfrm>
            <a:off x="2468879" y="359691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477E057F-8D9F-47C6-A0D3-2E9E18EDD4F0}"/>
              </a:ext>
            </a:extLst>
          </p:cNvPr>
          <p:cNvSpPr/>
          <p:nvPr/>
        </p:nvSpPr>
        <p:spPr>
          <a:xfrm>
            <a:off x="2468878" y="3596917"/>
            <a:ext cx="19304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RegMonth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2EEAF1A3-0136-4560-A1C9-5EBD2695D24D}"/>
              </a:ext>
            </a:extLst>
          </p:cNvPr>
          <p:cNvSpPr/>
          <p:nvPr/>
        </p:nvSpPr>
        <p:spPr>
          <a:xfrm>
            <a:off x="4571999" y="359691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23060835-E2AD-4151-BA38-D0BD0D99D0D0}"/>
              </a:ext>
            </a:extLst>
          </p:cNvPr>
          <p:cNvSpPr/>
          <p:nvPr/>
        </p:nvSpPr>
        <p:spPr>
          <a:xfrm>
            <a:off x="4571999" y="3596917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AvgBasket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14">
            <a:extLst>
              <a:ext uri="{FF2B5EF4-FFF2-40B4-BE49-F238E27FC236}">
                <a16:creationId xmlns:a16="http://schemas.microsoft.com/office/drawing/2014/main" id="{67C011E3-B179-4751-9A3B-F2216AD91106}"/>
              </a:ext>
            </a:extLst>
          </p:cNvPr>
          <p:cNvSpPr/>
          <p:nvPr/>
        </p:nvSpPr>
        <p:spPr>
          <a:xfrm>
            <a:off x="6675119" y="3596917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3B69871A-EFB0-40AB-B960-BC2F5A759F85}"/>
              </a:ext>
            </a:extLst>
          </p:cNvPr>
          <p:cNvSpPr/>
          <p:nvPr/>
        </p:nvSpPr>
        <p:spPr>
          <a:xfrm>
            <a:off x="6675119" y="3596917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DiversityRatio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6DC66A07-E478-44E9-A1B5-57D735AC930D}"/>
              </a:ext>
            </a:extLst>
          </p:cNvPr>
          <p:cNvSpPr/>
          <p:nvPr/>
        </p:nvSpPr>
        <p:spPr>
          <a:xfrm>
            <a:off x="3535679" y="4229675"/>
            <a:ext cx="18288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6" name="Text 9">
            <a:extLst>
              <a:ext uri="{FF2B5EF4-FFF2-40B4-BE49-F238E27FC236}">
                <a16:creationId xmlns:a16="http://schemas.microsoft.com/office/drawing/2014/main" id="{686F7557-4D97-4E56-AF34-857C24FE7B8B}"/>
              </a:ext>
            </a:extLst>
          </p:cNvPr>
          <p:cNvSpPr/>
          <p:nvPr/>
        </p:nvSpPr>
        <p:spPr>
          <a:xfrm>
            <a:off x="3535678" y="4229675"/>
            <a:ext cx="193047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ValuePerProduct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759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Segmentation K-Means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5720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 nombre de clusters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429768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005840"/>
            <a:ext cx="384048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2064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2D — 2 clusters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20640" y="1371600"/>
            <a:ext cx="3566160" cy="2286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931920"/>
            <a:ext cx="859536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005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retenu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279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(0.311)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291840" y="4005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91840" y="4279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688 clients — VIP / gros acheteurs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26480" y="4005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26480" y="4279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3 980 clients — comportement standard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Classification : Prédiction du Churn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850392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3977640"/>
            <a:ext cx="85039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60604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✅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60604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1.000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0916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0916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99.0 %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1228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1228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seulement</a:t>
            </a:r>
            <a:endParaRPr lang="en-US" sz="10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4014FAD-3052-4BF4-AE60-2A415DD42FB8}"/>
              </a:ext>
            </a:extLst>
          </p:cNvPr>
          <p:cNvSpPr/>
          <p:nvPr/>
        </p:nvSpPr>
        <p:spPr>
          <a:xfrm>
            <a:off x="50292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0.995</a:t>
            </a:r>
            <a:endParaRPr lang="en-US" sz="105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641A662-DF2E-47E5-9093-0BFDFCE5A4A2}"/>
              </a:ext>
            </a:extLst>
          </p:cNvPr>
          <p:cNvSpPr/>
          <p:nvPr/>
        </p:nvSpPr>
        <p:spPr>
          <a:xfrm>
            <a:off x="510540" y="45171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0.96</a:t>
            </a:r>
            <a:endParaRPr lang="en-US" sz="10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7C4342F2-4A65-4AE4-A267-AAEA0B0AB312}"/>
              </a:ext>
            </a:extLst>
          </p:cNvPr>
          <p:cNvSpPr/>
          <p:nvPr/>
        </p:nvSpPr>
        <p:spPr>
          <a:xfrm>
            <a:off x="2602230" y="4498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Importance des Variables : GradientBoosting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5029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60120"/>
            <a:ext cx="3337560" cy="39319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241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prédicteurs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063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1463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16752" y="1463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FavoriteSeason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16752" y="17099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39 %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23560" y="1965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saison préférée reflète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d'engagement client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2560320"/>
            <a:ext cx="3063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23560" y="2606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16752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CustomerTenureDays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16752" y="28529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38 %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2356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récents sont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à risque de churn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77840" y="3703320"/>
            <a:ext cx="3063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23560" y="3749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16752" y="3749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FirstPurchaseDaysAgo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16752" y="39959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19 %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2356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L'ancienneté du 1er achat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la fidélité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Régression — Prédiction du MonetaryTotal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850392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3977640"/>
            <a:ext cx="85039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0604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60604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0916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0916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197.6 £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12280" y="4041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Résidus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12280" y="4315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Centrés en 0 ✅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Déploiement — Application Flask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14800" cy="37947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69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de l'API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23160" y="1444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saisie client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/predict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+ Segment + Monetary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/dashboard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23160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distributions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/test-models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23160" y="34198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sur X_test (5 modèles)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3749040" cy="0"/>
          </a:xfrm>
          <a:prstGeom prst="line">
            <a:avLst/>
          </a:prstGeom>
          <a:noFill/>
          <a:ln w="6350">
            <a:solidFill>
              <a:srgbClr val="64B5F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risque churn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462272"/>
            <a:ext cx="82296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17320" y="4462272"/>
            <a:ext cx="822960" cy="2377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77440" y="4462272"/>
            <a:ext cx="82296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4462272"/>
            <a:ext cx="822960" cy="2377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160520" cy="37947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1069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prédiction client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1444752"/>
            <a:ext cx="292608" cy="27432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44475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38928" y="14447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features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1444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champs ( Freq…)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73168" y="2103120"/>
            <a:ext cx="292608" cy="27432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10312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38928" y="2103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 Align features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73168" y="2761488"/>
            <a:ext cx="292608" cy="27432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7614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38928" y="2761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66560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Proba churn + Niveau risque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3419856"/>
            <a:ext cx="292608" cy="27432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4198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38928" y="34198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KMeans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66560" y="3419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Segment client (0 ou 1)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4078224"/>
            <a:ext cx="292608" cy="27432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0782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38928" y="40782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Reg.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4078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Dépense prédite (£)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Synthèse des Performances &amp; Recommandations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64B5F6">
              <a:alpha val="60000"/>
            </a:srgbClr>
          </a:solidFill>
          <a:ln w="12700">
            <a:solidFill>
              <a:srgbClr val="64B5F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850392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42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des performances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0.311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1353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819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1.000 · Acc 99%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1353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600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MonetaryTotal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1819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0.927 · MAE 197£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2011680" cy="24231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542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les clients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risque critique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des campagnes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rétention personnalisées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départ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87168" y="2468880"/>
            <a:ext cx="2011680" cy="24231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87168" y="2542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87168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FavoriteSeason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78608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les offres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promotionnelles à la saison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préférée de chaque client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54296" y="2468880"/>
            <a:ext cx="2011680" cy="24231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54296" y="2542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54296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Fidéliser 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clients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45736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CustomerTenure = 2ème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prédicteur : les 90 premiers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sont cruciaux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21424" y="2468880"/>
            <a:ext cx="2011680" cy="2423160"/>
          </a:xfrm>
          <a:prstGeom prst="rect">
            <a:avLst/>
          </a:prstGeom>
          <a:solidFill>
            <a:srgbClr val="16213E"/>
          </a:solidFill>
          <a:ln w="12700">
            <a:solidFill>
              <a:srgbClr val="64B5F6">
                <a:alpha val="4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21424" y="2542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1424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Cluster 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12864" y="34015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688 clients VIP méritent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communication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différenciée et personnalisée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60403D9-C59E-4BED-8832-A0D010A8F9EA}"/>
              </a:ext>
            </a:extLst>
          </p:cNvPr>
          <p:cNvSpPr txBox="1"/>
          <p:nvPr/>
        </p:nvSpPr>
        <p:spPr>
          <a:xfrm>
            <a:off x="937260" y="4879848"/>
            <a:ext cx="8642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kern="1200" dirty="0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⚡  </a:t>
            </a:r>
            <a:r>
              <a:rPr lang="en-US" sz="1400" kern="1200" dirty="0" err="1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</a:t>
            </a:r>
            <a:r>
              <a:rPr lang="en-US" sz="1400" kern="1200" dirty="0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à noter : AUC=1.000 </a:t>
            </a:r>
            <a:r>
              <a:rPr lang="en-US" sz="1400" kern="1200" dirty="0" err="1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peut</a:t>
            </a:r>
            <a:r>
              <a:rPr lang="en-US" sz="1400" kern="1200" dirty="0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kern="1200" dirty="0" err="1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indiquer</a:t>
            </a:r>
            <a:r>
              <a:rPr lang="en-US" sz="1400" kern="1200" dirty="0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data leakage (feature </a:t>
            </a:r>
            <a:r>
              <a:rPr lang="en-US" sz="1400" kern="1200" dirty="0" err="1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dérivée</a:t>
            </a:r>
            <a:r>
              <a:rPr lang="en-US" sz="1400" kern="1200" dirty="0">
                <a:solidFill>
                  <a:srgbClr val="F39C1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Churn)</a:t>
            </a:r>
            <a:endParaRPr lang="fr-FR" sz="1400" dirty="0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70000"/>
            </a:srgbClr>
          </a:solidFill>
          <a:ln w="12700">
            <a:solidFill>
              <a:srgbClr val="1A1A2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ML Retail — Chaîne complète de traitement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2331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Exploration &amp; Préparation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27157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ACP + K-Means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0998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Classification Churn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34838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Régression Monetary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8679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Déploiement Flask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Amine Gharbi  ·  GI2-S1  · 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901</Words>
  <Application>Microsoft Office PowerPoint</Application>
  <PresentationFormat>Affichage à l'écran (16:9)</PresentationFormat>
  <Paragraphs>317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Comportementale Clientèle Retail — ML</dc:title>
  <dc:subject>Atelier Machine Learning GI2-S1</dc:subject>
  <dc:creator>Mohamed Amine Gharbi</dc:creator>
  <cp:lastModifiedBy>mohamed amine gharbi</cp:lastModifiedBy>
  <cp:revision>2</cp:revision>
  <dcterms:created xsi:type="dcterms:W3CDTF">2026-04-19T22:48:05Z</dcterms:created>
  <dcterms:modified xsi:type="dcterms:W3CDTF">2026-04-20T19:34:53Z</dcterms:modified>
</cp:coreProperties>
</file>